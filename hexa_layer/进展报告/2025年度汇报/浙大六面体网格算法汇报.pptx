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59" r:id="rId5"/>
  </p:sldIdLst>
  <p:sldSz cx="12192000" cy="68580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43" userDrawn="1">
          <p15:clr>
            <a:srgbClr val="A4A3A4"/>
          </p15:clr>
        </p15:guide>
        <p15:guide id="2" orient="horz" pos="63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oyiming" initials="c" lastIdx="14" clrIdx="0"/>
  <p:cmAuthor id="2" name="Yanxinbao" initials="Y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5050"/>
    <a:srgbClr val="FFFFFF"/>
    <a:srgbClr val="BB120F"/>
    <a:srgbClr val="EBD6DB"/>
    <a:srgbClr val="B3C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513" autoAdjust="0"/>
  </p:normalViewPr>
  <p:slideViewPr>
    <p:cSldViewPr snapToGrid="0" showGuides="1">
      <p:cViewPr>
        <p:scale>
          <a:sx n="50" d="100"/>
          <a:sy n="50" d="100"/>
        </p:scale>
        <p:origin x="558" y="651"/>
      </p:cViewPr>
      <p:guideLst>
        <p:guide pos="243"/>
        <p:guide orient="horz" pos="635"/>
      </p:guideLst>
    </p:cSldViewPr>
  </p:slideViewPr>
  <p:outlineViewPr>
    <p:cViewPr>
      <p:scale>
        <a:sx n="33" d="100"/>
        <a:sy n="33" d="100"/>
      </p:scale>
      <p:origin x="0" y="-8742"/>
    </p:cViewPr>
  </p:outlin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24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58A3C-5D53-4857-BF80-03090BFDD7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25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endParaRPr lang="zh-CN" altLang="en-US"/>
          </a:p>
        </p:txBody>
      </p:sp>
      <p:sp>
        <p:nvSpPr>
          <p:cNvPr id="1048626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627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28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00599F-0BAD-4966-B6E4-F21BD6E05C3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0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  <p:sp>
        <p:nvSpPr>
          <p:cNvPr id="1048605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defTabSz="915035"/>
            <a:fld id="{7137BD42-557F-43FD-81ED-8BAE5C55020F}" type="slidenum">
              <a: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  <p:sp>
        <p:nvSpPr>
          <p:cNvPr id="104861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defTabSz="915035"/>
            <a:fld id="{7137BD42-557F-43FD-81ED-8BAE5C55020F}" type="slidenum">
              <a: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标题 6"/>
          <p:cNvSpPr>
            <a:spLocks noGrp="1"/>
          </p:cNvSpPr>
          <p:nvPr>
            <p:ph type="title" hasCustomPrompt="1"/>
          </p:nvPr>
        </p:nvSpPr>
        <p:spPr>
          <a:xfrm>
            <a:off x="481330" y="116840"/>
            <a:ext cx="10515600" cy="1325563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+mn-ea"/>
              </a:defRPr>
            </a:lvl1pPr>
          </a:lstStyle>
          <a:p>
            <a:r>
              <a:rPr lang="zh-CN" altLang="en-US"/>
              <a:t>深圳泊松软件技术有限公司</a:t>
            </a:r>
            <a:endParaRPr lang="zh-CN" altLang="en-US"/>
          </a:p>
        </p:txBody>
      </p:sp>
      <p:sp>
        <p:nvSpPr>
          <p:cNvPr id="1048616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480A4BC-35B1-438E-9152-446B9BB83C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17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18" name="文本占位符 1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048582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048583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4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1048585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480A4BC-35B1-438E-9152-446B9BB83C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9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505B016-64E1-4432-88BD-C1FDDF8765E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仅标题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图片 7"/>
          <p:cNvPicPr>
            <a:picLocks noChangeAspect="1"/>
          </p:cNvPicPr>
          <p:nvPr userDrawn="1"/>
        </p:nvPicPr>
        <p:blipFill rotWithShape="1">
          <a:blip r:embed="rId2"/>
          <a:srcRect r="31013"/>
          <a:stretch>
            <a:fillRect/>
          </a:stretch>
        </p:blipFill>
        <p:spPr>
          <a:xfrm>
            <a:off x="1" y="-32766"/>
            <a:ext cx="12192001" cy="6903465"/>
          </a:xfrm>
          <a:prstGeom prst="rect">
            <a:avLst/>
          </a:prstGeom>
        </p:spPr>
      </p:pic>
      <p:sp>
        <p:nvSpPr>
          <p:cNvPr id="1048619" name="矩形 8"/>
          <p:cNvSpPr/>
          <p:nvPr userDrawn="1"/>
        </p:nvSpPr>
        <p:spPr>
          <a:xfrm>
            <a:off x="0" y="-32766"/>
            <a:ext cx="12192001" cy="6890766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20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2" y="6356350"/>
            <a:ext cx="2743200" cy="365125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21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2" y="6356350"/>
            <a:ext cx="4114800" cy="365125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2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448801" y="6492875"/>
            <a:ext cx="2743200" cy="365125"/>
          </a:xfrm>
        </p:spPr>
        <p:txBody>
          <a:bodyPr/>
          <a:lstStyle>
            <a:lvl1pPr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089CD13-7E6A-4BFE-A60B-5F01365517F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0A4BC-35B1-438E-9152-446B9BB83C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05B016-64E1-4432-88BD-C1FDDF8765E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3" descr="detailed_hexa_meshing_roadmap.gv"/>
          <p:cNvPicPr/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7947025" y="1528445"/>
            <a:ext cx="4034790" cy="4806950"/>
          </a:xfrm>
          <a:prstGeom prst="rect">
            <a:avLst/>
          </a:prstGeom>
        </p:spPr>
      </p:pic>
      <p:pic>
        <p:nvPicPr>
          <p:cNvPr id="2097152" name="图片 2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160000" y="171165"/>
            <a:ext cx="720000" cy="719207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 flipV="1">
            <a:off x="12700" y="900000"/>
            <a:ext cx="12168000" cy="108000"/>
            <a:chOff x="3410530" y="1675957"/>
            <a:chExt cx="3904670" cy="0"/>
          </a:xfrm>
        </p:grpSpPr>
        <p:cxnSp>
          <p:nvCxnSpPr>
            <p:cNvPr id="3145728" name="直接连接符 19"/>
            <p:cNvCxnSpPr/>
            <p:nvPr/>
          </p:nvCxnSpPr>
          <p:spPr>
            <a:xfrm>
              <a:off x="3562930" y="1675957"/>
              <a:ext cx="3752270" cy="0"/>
            </a:xfrm>
            <a:prstGeom prst="line">
              <a:avLst/>
            </a:prstGeom>
            <a:ln w="254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29" name="直接连接符 20"/>
            <p:cNvCxnSpPr/>
            <p:nvPr/>
          </p:nvCxnSpPr>
          <p:spPr>
            <a:xfrm>
              <a:off x="3410530" y="1675957"/>
              <a:ext cx="1298630" cy="0"/>
            </a:xfrm>
            <a:prstGeom prst="line">
              <a:avLst/>
            </a:prstGeom>
            <a:ln w="25400">
              <a:solidFill>
                <a:srgbClr val="B01F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8596" name="标题 1"/>
          <p:cNvSpPr txBox="1"/>
          <p:nvPr/>
        </p:nvSpPr>
        <p:spPr bwMode="auto">
          <a:xfrm>
            <a:off x="113214" y="261736"/>
            <a:ext cx="10525457" cy="672262"/>
          </a:xfrm>
          <a:prstGeom prst="rect">
            <a:avLst/>
          </a:prstGeom>
          <a:noFill/>
          <a:ln>
            <a:noFill/>
          </a:ln>
        </p:spPr>
        <p:txBody>
          <a:bodyPr lIns="121909" tIns="60955" rIns="121909" bIns="60955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/>
            <a:r>
              <a:rPr lang="zh-CN" altLang="en-US" sz="32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扫掠体六面体</a:t>
            </a:r>
            <a:r>
              <a:rPr lang="zh-CN" altLang="en-US" sz="32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网格生成</a:t>
            </a:r>
            <a:endParaRPr lang="zh-CN" altLang="en-US" sz="3200" b="1" dirty="0" err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8" name="组合 16"/>
          <p:cNvGrpSpPr/>
          <p:nvPr/>
        </p:nvGrpSpPr>
        <p:grpSpPr>
          <a:xfrm flipV="1">
            <a:off x="12700" y="900000"/>
            <a:ext cx="12168000" cy="108000"/>
            <a:chOff x="3410530" y="1675957"/>
            <a:chExt cx="3904670" cy="0"/>
          </a:xfrm>
        </p:grpSpPr>
        <p:cxnSp>
          <p:nvCxnSpPr>
            <p:cNvPr id="3145730" name="直接连接符 19"/>
            <p:cNvCxnSpPr/>
            <p:nvPr/>
          </p:nvCxnSpPr>
          <p:spPr>
            <a:xfrm>
              <a:off x="3562930" y="1675957"/>
              <a:ext cx="3752270" cy="0"/>
            </a:xfrm>
            <a:prstGeom prst="line">
              <a:avLst/>
            </a:prstGeom>
            <a:ln w="254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1" name="直接连接符 20"/>
            <p:cNvCxnSpPr/>
            <p:nvPr/>
          </p:nvCxnSpPr>
          <p:spPr>
            <a:xfrm>
              <a:off x="3410530" y="1675957"/>
              <a:ext cx="1298630" cy="0"/>
            </a:xfrm>
            <a:prstGeom prst="line">
              <a:avLst/>
            </a:prstGeom>
            <a:ln w="25400">
              <a:solidFill>
                <a:srgbClr val="B01F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8631" name="文本框 28"/>
          <p:cNvSpPr txBox="1"/>
          <p:nvPr/>
        </p:nvSpPr>
        <p:spPr>
          <a:xfrm>
            <a:off x="4434840" y="5095875"/>
            <a:ext cx="572833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>
                <a:solidFill>
                  <a:srgbClr val="FF0000"/>
                </a:solidFill>
                <a:ea typeface="等线" panose="02010600030101010101" charset="-122"/>
              </a:rPr>
              <a:t>算法进展：</a:t>
            </a:r>
            <a:br>
              <a:rPr lang="zh-CN" altLang="en-US" sz="2400" b="1">
                <a:solidFill>
                  <a:srgbClr val="0000FF"/>
                </a:solidFill>
              </a:rPr>
            </a:br>
            <a:r>
              <a:rPr lang="zh-CN" altLang="en-US" sz="2400" b="1">
                <a:solidFill>
                  <a:srgbClr val="FF0000"/>
                </a:solidFill>
                <a:ea typeface="等线" panose="02010600030101010101" charset="-122"/>
              </a:rPr>
              <a:t>多源多目标：</a:t>
            </a:r>
            <a:r>
              <a:rPr lang="zh-CN" altLang="en-US" sz="2400" b="1">
                <a:solidFill>
                  <a:srgbClr val="0000FF"/>
                </a:solidFill>
                <a:ea typeface="等线" panose="02010600030101010101" charset="-122"/>
              </a:rPr>
              <a:t>初步完成。</a:t>
            </a:r>
            <a:endParaRPr lang="zh-CN" altLang="en-US" sz="2400" b="1">
              <a:solidFill>
                <a:srgbClr val="0000FF"/>
              </a:solidFill>
            </a:endParaRPr>
          </a:p>
          <a:p>
            <a:r>
              <a:rPr lang="zh-CN" altLang="zh-CN" sz="2400" b="1">
                <a:solidFill>
                  <a:srgbClr val="FF0000"/>
                </a:solidFill>
                <a:latin typeface="Arial" panose="020B0604020202020204"/>
                <a:ea typeface="等线" panose="02010600030101010101" charset="-122"/>
              </a:rPr>
              <a:t>子映射法</a:t>
            </a:r>
            <a:r>
              <a:rPr lang="zh-CN" altLang="zh-CN" sz="2400" b="1">
                <a:solidFill>
                  <a:srgbClr val="FF0000"/>
                </a:solidFill>
                <a:latin typeface="Arial" panose="020B0604020202020204"/>
                <a:ea typeface="等线" panose="02010600030101010101" charset="-122"/>
              </a:rPr>
              <a:t>优化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/>
              </a:rPr>
              <a:t>:</a:t>
            </a:r>
            <a:r>
              <a:rPr lang="zh-CN" altLang="zh-CN" sz="2400" b="1">
                <a:solidFill>
                  <a:srgbClr val="0000FF"/>
                </a:solidFill>
                <a:latin typeface="Arial" panose="020B0604020202020204"/>
                <a:ea typeface="等线" panose="02010600030101010101" charset="-122"/>
              </a:rPr>
              <a:t>为</a:t>
            </a:r>
            <a:r>
              <a:rPr lang="zh-CN" altLang="zh-CN" sz="2400" b="1">
                <a:solidFill>
                  <a:srgbClr val="0000FF"/>
                </a:solidFill>
                <a:latin typeface="Arial" panose="020B0604020202020204"/>
                <a:ea typeface="等线" panose="02010600030101010101" charset="-122"/>
              </a:rPr>
              <a:t>适应</a:t>
            </a:r>
            <a:r>
              <a:rPr lang="zh-CN" altLang="zh-CN" sz="2400" b="1">
                <a:solidFill>
                  <a:srgbClr val="0000FF"/>
                </a:solidFill>
                <a:latin typeface="Arial" panose="020B0604020202020204"/>
                <a:ea typeface="等线" panose="02010600030101010101" charset="-122"/>
              </a:rPr>
              <a:t>各种</a:t>
            </a:r>
            <a:r>
              <a:rPr lang="zh-CN" altLang="zh-CN" sz="2400" b="1">
                <a:solidFill>
                  <a:srgbClr val="0000FF"/>
                </a:solidFill>
                <a:latin typeface="Arial" panose="020B0604020202020204"/>
                <a:ea typeface="等线" panose="02010600030101010101" charset="-122"/>
              </a:rPr>
              <a:t>角度</a:t>
            </a:r>
            <a:r>
              <a:rPr lang="zh-CN" altLang="zh-CN" sz="2400" b="1">
                <a:solidFill>
                  <a:srgbClr val="0000FF"/>
                </a:solidFill>
                <a:latin typeface="Arial" panose="020B0604020202020204"/>
                <a:ea typeface="等线" panose="02010600030101010101" charset="-122"/>
              </a:rPr>
              <a:t>的</a:t>
            </a:r>
            <a:r>
              <a:rPr lang="zh-CN" altLang="zh-CN" sz="2400" b="1">
                <a:solidFill>
                  <a:srgbClr val="0000FF"/>
                </a:solidFill>
                <a:latin typeface="Arial" panose="020B0604020202020204"/>
                <a:ea typeface="等线" panose="02010600030101010101" charset="-122"/>
              </a:rPr>
              <a:t>源面边界</a:t>
            </a:r>
            <a:r>
              <a:rPr lang="zh-CN" altLang="zh-CN" sz="2400" b="1">
                <a:solidFill>
                  <a:srgbClr val="0000FF"/>
                </a:solidFill>
                <a:latin typeface="Arial" panose="020B0604020202020204"/>
                <a:ea typeface="等线" panose="02010600030101010101" charset="-122"/>
              </a:rPr>
              <a:t>，</a:t>
            </a:r>
            <a:r>
              <a:rPr lang="zh-CN" altLang="zh-CN" sz="2400" b="1">
                <a:solidFill>
                  <a:srgbClr val="0000FF"/>
                </a:solidFill>
                <a:latin typeface="Arial" panose="020B0604020202020204"/>
                <a:ea typeface="等线" panose="02010600030101010101" charset="-122"/>
              </a:rPr>
              <a:t>正在优化中。</a:t>
            </a:r>
            <a:endParaRPr lang="zh-CN" altLang="en-US" sz="2400" b="1">
              <a:solidFill>
                <a:srgbClr val="0000FF"/>
              </a:solidFill>
            </a:endParaRPr>
          </a:p>
        </p:txBody>
      </p:sp>
      <p:sp>
        <p:nvSpPr>
          <p:cNvPr id="2" name="文本框 14"/>
          <p:cNvSpPr txBox="1"/>
          <p:nvPr/>
        </p:nvSpPr>
        <p:spPr>
          <a:xfrm>
            <a:off x="112911" y="1332269"/>
            <a:ext cx="177889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算例：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 flipH="1" flipV="1">
            <a:off x="7397115" y="2019935"/>
            <a:ext cx="1538605" cy="18351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flipH="1" flipV="1">
            <a:off x="7997190" y="2562225"/>
            <a:ext cx="344170" cy="18923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H="1" flipV="1">
            <a:off x="7835900" y="4444365"/>
            <a:ext cx="1099820" cy="5905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H="1" flipV="1">
            <a:off x="7905115" y="3382010"/>
            <a:ext cx="1487170" cy="13525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2063115" y="1528445"/>
            <a:ext cx="5955665" cy="30518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buClrTx/>
              <a:buSzTx/>
              <a:buNone/>
            </a:pPr>
            <a:r>
              <a:rPr lang="zh-CN" altLang="en-US" b="1">
                <a:solidFill>
                  <a:srgbClr val="FF0000"/>
                </a:solidFill>
                <a:ea typeface="等线" panose="02010600030101010101" charset="-122"/>
              </a:rPr>
              <a:t>扫掠体特征识别：</a:t>
            </a:r>
            <a:endParaRPr lang="zh-CN" altLang="en-US" b="1">
              <a:solidFill>
                <a:srgbClr val="FF0000"/>
              </a:solidFill>
              <a:ea typeface="等线" panose="02010600030101010101" charset="-122"/>
            </a:endParaRPr>
          </a:p>
          <a:p>
            <a:pPr algn="l">
              <a:buClrTx/>
              <a:buSzTx/>
              <a:buFontTx/>
              <a:buNone/>
            </a:pPr>
            <a:r>
              <a:rPr lang="zh-CN" altLang="zh-CN" b="1">
                <a:solidFill>
                  <a:srgbClr val="0000FF"/>
                </a:solidFill>
                <a:latin typeface="Arial" panose="020B0604020202020204"/>
                <a:ea typeface="等线" panose="02010600030101010101" charset="-122"/>
              </a:rPr>
              <a:t>自动识别各组源面、侧面、目标面</a:t>
            </a:r>
            <a:endParaRPr lang="zh-CN" altLang="zh-CN" b="1">
              <a:solidFill>
                <a:srgbClr val="0000FF"/>
              </a:solidFill>
              <a:latin typeface="Arial" panose="020B0604020202020204"/>
              <a:ea typeface="等线" panose="02010600030101010101" charset="-122"/>
            </a:endParaRPr>
          </a:p>
          <a:p>
            <a:pPr algn="l">
              <a:buClrTx/>
              <a:buSzTx/>
              <a:buNone/>
            </a:pPr>
            <a:r>
              <a:rPr lang="zh-CN" altLang="en-US" b="1">
                <a:solidFill>
                  <a:srgbClr val="FF0000"/>
                </a:solidFill>
                <a:ea typeface="等线" panose="02010600030101010101" charset="-122"/>
              </a:rPr>
              <a:t>压印：</a:t>
            </a:r>
            <a:endParaRPr lang="zh-CN" altLang="en-US" b="1">
              <a:solidFill>
                <a:srgbClr val="FF0000"/>
              </a:solidFill>
              <a:ea typeface="等线" panose="02010600030101010101" charset="-122"/>
            </a:endParaRPr>
          </a:p>
          <a:p>
            <a:pPr algn="l">
              <a:buClrTx/>
              <a:buSzTx/>
              <a:buNone/>
            </a:pPr>
            <a:r>
              <a:rPr lang="zh-CN" altLang="zh-CN" b="1">
                <a:solidFill>
                  <a:srgbClr val="0000FF"/>
                </a:solidFill>
                <a:latin typeface="Arial" panose="020B0604020202020204"/>
                <a:ea typeface="等线" panose="02010600030101010101" charset="-122"/>
              </a:rPr>
              <a:t>基于Delaunay三角形的布尔运算，将多源多目标问题分解为多源单目标问题</a:t>
            </a:r>
            <a:endParaRPr lang="zh-CN" altLang="zh-CN" b="1">
              <a:solidFill>
                <a:srgbClr val="0000FF"/>
              </a:solidFill>
              <a:latin typeface="Arial" panose="020B0604020202020204"/>
              <a:ea typeface="等线" panose="02010600030101010101" charset="-122"/>
            </a:endParaRPr>
          </a:p>
          <a:p>
            <a:pPr algn="l">
              <a:buClrTx/>
              <a:buSzTx/>
              <a:buNone/>
            </a:pPr>
            <a:r>
              <a:rPr lang="zh-CN" altLang="en-US" b="1">
                <a:solidFill>
                  <a:srgbClr val="FF0000"/>
                </a:solidFill>
                <a:ea typeface="等线" panose="02010600030101010101" charset="-122"/>
              </a:rPr>
              <a:t>全局网格密度规划算法：</a:t>
            </a:r>
            <a:endParaRPr lang="zh-CN" altLang="en-US" b="1">
              <a:solidFill>
                <a:srgbClr val="FF0000"/>
              </a:solidFill>
              <a:ea typeface="等线" panose="02010600030101010101" charset="-122"/>
            </a:endParaRPr>
          </a:p>
          <a:p>
            <a:pPr algn="l">
              <a:buClrTx/>
              <a:buSzTx/>
              <a:buNone/>
            </a:pPr>
            <a:r>
              <a:rPr lang="zh-CN" altLang="zh-CN" b="1">
                <a:solidFill>
                  <a:srgbClr val="0000FF"/>
                </a:solidFill>
                <a:latin typeface="Arial" panose="020B0604020202020204"/>
                <a:ea typeface="等线" panose="02010600030101010101" charset="-122"/>
              </a:rPr>
              <a:t>求解整数规划模型，得到满足条件约束的网格离散段数</a:t>
            </a:r>
            <a:endParaRPr lang="zh-CN" altLang="en-US" b="1">
              <a:solidFill>
                <a:srgbClr val="FF0000"/>
              </a:solidFill>
              <a:ea typeface="等线" panose="02010600030101010101" charset="-122"/>
            </a:endParaRPr>
          </a:p>
          <a:p>
            <a:pPr algn="l">
              <a:buClrTx/>
              <a:buSzTx/>
              <a:buNone/>
            </a:pPr>
            <a:r>
              <a:rPr lang="zh-CN" altLang="en-US" b="1">
                <a:solidFill>
                  <a:srgbClr val="FF0000"/>
                </a:solidFill>
                <a:ea typeface="等线" panose="02010600030101010101" charset="-122"/>
              </a:rPr>
              <a:t>子映射法：</a:t>
            </a:r>
            <a:endParaRPr lang="zh-CN" altLang="en-US" b="1">
              <a:solidFill>
                <a:srgbClr val="FF0000"/>
              </a:solidFill>
              <a:ea typeface="等线" panose="02010600030101010101" charset="-122"/>
            </a:endParaRPr>
          </a:p>
          <a:p>
            <a:pPr algn="l">
              <a:buClrTx/>
              <a:buSzTx/>
              <a:buNone/>
            </a:pPr>
            <a:r>
              <a:rPr lang="zh-CN" altLang="zh-CN" b="1">
                <a:solidFill>
                  <a:srgbClr val="0000FF"/>
                </a:solidFill>
                <a:latin typeface="Arial" panose="020B0604020202020204"/>
                <a:ea typeface="等线" panose="02010600030101010101" charset="-122"/>
              </a:rPr>
              <a:t>1.将多连通区域转换为单连通区域</a:t>
            </a:r>
            <a:endParaRPr lang="zh-CN" altLang="zh-CN" b="1">
              <a:solidFill>
                <a:srgbClr val="0000FF"/>
              </a:solidFill>
              <a:latin typeface="Arial" panose="020B0604020202020204"/>
              <a:ea typeface="等线" panose="02010600030101010101" charset="-122"/>
            </a:endParaRPr>
          </a:p>
          <a:p>
            <a:pPr algn="l">
              <a:buClrTx/>
              <a:buSzTx/>
              <a:buNone/>
            </a:pPr>
            <a:r>
              <a:rPr lang="zh-CN" altLang="zh-CN" b="1">
                <a:solidFill>
                  <a:srgbClr val="0000FF"/>
                </a:solidFill>
                <a:latin typeface="Arial" panose="020B0604020202020204"/>
                <a:ea typeface="等线" panose="02010600030101010101" charset="-122"/>
              </a:rPr>
              <a:t>2.在分区操作时对初始分类不满足约束的角进行调整再分类</a:t>
            </a:r>
            <a:endParaRPr lang="zh-CN" altLang="zh-CN" b="1">
              <a:solidFill>
                <a:srgbClr val="0000FF"/>
              </a:solidFill>
              <a:latin typeface="Arial" panose="020B0604020202020204"/>
              <a:ea typeface="等线" panose="0201060003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39720" y="108140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solidFill>
                  <a:srgbClr val="FF0000"/>
                </a:solidFill>
                <a:ea typeface="等线" panose="02010600030101010101" charset="-122"/>
                <a:sym typeface="+mn-ea"/>
              </a:rPr>
              <a:t>关键</a:t>
            </a:r>
            <a:r>
              <a:rPr lang="zh-CN" altLang="en-US" sz="2400" b="1">
                <a:solidFill>
                  <a:srgbClr val="FF0000"/>
                </a:solidFill>
                <a:ea typeface="等线" panose="02010600030101010101" charset="-122"/>
                <a:sym typeface="+mn-ea"/>
              </a:rPr>
              <a:t>技术：</a:t>
            </a:r>
            <a:endParaRPr lang="zh-CN" altLang="en-US" sz="2400" b="1">
              <a:solidFill>
                <a:srgbClr val="FF0000"/>
              </a:solidFill>
              <a:ea typeface="等线" panose="02010600030101010101" charset="-122"/>
              <a:sym typeface="+mn-ea"/>
            </a:endParaRPr>
          </a:p>
        </p:txBody>
      </p:sp>
      <p:pic>
        <p:nvPicPr>
          <p:cNvPr id="13" name="图片 12" descr="2222"/>
          <p:cNvPicPr>
            <a:picLocks noChangeAspect="1"/>
          </p:cNvPicPr>
          <p:nvPr/>
        </p:nvPicPr>
        <p:blipFill>
          <a:blip r:embed="rId3"/>
          <a:srcRect l="26490" t="3281" r="4775" b="3299"/>
          <a:stretch>
            <a:fillRect/>
          </a:stretch>
        </p:blipFill>
        <p:spPr>
          <a:xfrm>
            <a:off x="386080" y="4450080"/>
            <a:ext cx="1232535" cy="1654810"/>
          </a:xfrm>
          <a:prstGeom prst="rect">
            <a:avLst/>
          </a:prstGeom>
        </p:spPr>
      </p:pic>
      <p:pic>
        <p:nvPicPr>
          <p:cNvPr id="9" name="图片 8" descr="3333"/>
          <p:cNvPicPr>
            <a:picLocks noChangeAspect="1"/>
          </p:cNvPicPr>
          <p:nvPr/>
        </p:nvPicPr>
        <p:blipFill>
          <a:blip r:embed="rId4"/>
          <a:srcRect l="30603" t="10760" r="383" b="10513"/>
          <a:stretch>
            <a:fillRect/>
          </a:stretch>
        </p:blipFill>
        <p:spPr>
          <a:xfrm>
            <a:off x="2622550" y="4585335"/>
            <a:ext cx="1437247" cy="16200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24205" y="3538855"/>
            <a:ext cx="9588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0000FF"/>
                </a:solidFill>
              </a:rPr>
              <a:t>模型</a:t>
            </a:r>
            <a:endParaRPr lang="zh-CN" altLang="en-US" sz="2400" b="1">
              <a:solidFill>
                <a:srgbClr val="0000FF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030" y="6105525"/>
            <a:ext cx="17760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0000FF"/>
                </a:solidFill>
              </a:rPr>
              <a:t>四边形网格</a:t>
            </a:r>
            <a:endParaRPr lang="zh-CN" altLang="en-US" sz="2400" b="1">
              <a:solidFill>
                <a:srgbClr val="0000FF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37765" y="6203950"/>
            <a:ext cx="1806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0000FF"/>
                </a:solidFill>
              </a:rPr>
              <a:t>六面体网格</a:t>
            </a:r>
            <a:endParaRPr lang="zh-CN" altLang="en-US" sz="2400" b="1">
              <a:solidFill>
                <a:srgbClr val="0000FF"/>
              </a:solidFill>
            </a:endParaRPr>
          </a:p>
        </p:txBody>
      </p:sp>
      <p:sp>
        <p:nvSpPr>
          <p:cNvPr id="19" name="右箭头 18"/>
          <p:cNvSpPr/>
          <p:nvPr/>
        </p:nvSpPr>
        <p:spPr>
          <a:xfrm rot="5400000">
            <a:off x="843915" y="4037965"/>
            <a:ext cx="518795" cy="30353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右箭头 19"/>
          <p:cNvSpPr/>
          <p:nvPr/>
        </p:nvSpPr>
        <p:spPr>
          <a:xfrm>
            <a:off x="1835785" y="5149215"/>
            <a:ext cx="518795" cy="30353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2222"/>
          <p:cNvPicPr>
            <a:picLocks noChangeAspect="1"/>
          </p:cNvPicPr>
          <p:nvPr/>
        </p:nvPicPr>
        <p:blipFill>
          <a:blip r:embed="rId5"/>
          <a:srcRect l="25113" t="1993" r="4496" b="4622"/>
          <a:stretch>
            <a:fillRect/>
          </a:stretch>
        </p:blipFill>
        <p:spPr>
          <a:xfrm>
            <a:off x="512445" y="1798320"/>
            <a:ext cx="1323340" cy="1734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图片 20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1160000" y="171165"/>
            <a:ext cx="720000" cy="719207"/>
          </a:xfrm>
          <a:prstGeom prst="rect">
            <a:avLst/>
          </a:prstGeom>
        </p:spPr>
      </p:pic>
      <p:grpSp>
        <p:nvGrpSpPr>
          <p:cNvPr id="22" name="组合 16"/>
          <p:cNvGrpSpPr/>
          <p:nvPr/>
        </p:nvGrpSpPr>
        <p:grpSpPr>
          <a:xfrm flipV="1">
            <a:off x="12700" y="900000"/>
            <a:ext cx="12168000" cy="108000"/>
            <a:chOff x="3410530" y="1675957"/>
            <a:chExt cx="3904670" cy="0"/>
          </a:xfrm>
        </p:grpSpPr>
        <p:cxnSp>
          <p:nvCxnSpPr>
            <p:cNvPr id="3145735" name="直接连接符 19"/>
            <p:cNvCxnSpPr/>
            <p:nvPr/>
          </p:nvCxnSpPr>
          <p:spPr>
            <a:xfrm>
              <a:off x="3562930" y="1675957"/>
              <a:ext cx="3752270" cy="0"/>
            </a:xfrm>
            <a:prstGeom prst="line">
              <a:avLst/>
            </a:prstGeom>
            <a:ln w="254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6" name="直接连接符 20"/>
            <p:cNvCxnSpPr/>
            <p:nvPr/>
          </p:nvCxnSpPr>
          <p:spPr>
            <a:xfrm>
              <a:off x="3410530" y="1675957"/>
              <a:ext cx="1298630" cy="0"/>
            </a:xfrm>
            <a:prstGeom prst="line">
              <a:avLst/>
            </a:prstGeom>
            <a:ln w="25400">
              <a:solidFill>
                <a:srgbClr val="B01F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8606" name="标题 1"/>
          <p:cNvSpPr txBox="1"/>
          <p:nvPr/>
        </p:nvSpPr>
        <p:spPr bwMode="auto">
          <a:xfrm>
            <a:off x="113214" y="261736"/>
            <a:ext cx="10525457" cy="672262"/>
          </a:xfrm>
          <a:prstGeom prst="rect">
            <a:avLst/>
          </a:prstGeom>
          <a:noFill/>
          <a:ln>
            <a:noFill/>
          </a:ln>
        </p:spPr>
        <p:txBody>
          <a:bodyPr lIns="121909" tIns="60955" rIns="121909" bIns="60955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/>
            <a:r>
              <a:rPr lang="zh-CN" altLang="en-US" sz="32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六面体</a:t>
            </a:r>
            <a:r>
              <a:rPr lang="zh-CN" altLang="en-US" sz="32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附面层网格生成</a:t>
            </a:r>
            <a:endParaRPr lang="zh-CN" altLang="en-US" sz="3200" b="1" dirty="0" err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3" name="组合 16"/>
          <p:cNvGrpSpPr/>
          <p:nvPr/>
        </p:nvGrpSpPr>
        <p:grpSpPr>
          <a:xfrm flipV="1">
            <a:off x="12700" y="900000"/>
            <a:ext cx="12168000" cy="108000"/>
            <a:chOff x="3410530" y="1675957"/>
            <a:chExt cx="3904670" cy="0"/>
          </a:xfrm>
        </p:grpSpPr>
        <p:cxnSp>
          <p:nvCxnSpPr>
            <p:cNvPr id="3145737" name="直接连接符 19"/>
            <p:cNvCxnSpPr/>
            <p:nvPr/>
          </p:nvCxnSpPr>
          <p:spPr>
            <a:xfrm>
              <a:off x="3562930" y="1675957"/>
              <a:ext cx="3752270" cy="0"/>
            </a:xfrm>
            <a:prstGeom prst="line">
              <a:avLst/>
            </a:prstGeom>
            <a:ln w="254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8" name="直接连接符 20"/>
            <p:cNvCxnSpPr/>
            <p:nvPr/>
          </p:nvCxnSpPr>
          <p:spPr>
            <a:xfrm>
              <a:off x="3410530" y="1675957"/>
              <a:ext cx="1298630" cy="0"/>
            </a:xfrm>
            <a:prstGeom prst="line">
              <a:avLst/>
            </a:prstGeom>
            <a:ln w="25400">
              <a:solidFill>
                <a:srgbClr val="B01F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8607" name="文本框 14"/>
          <p:cNvSpPr txBox="1"/>
          <p:nvPr/>
        </p:nvSpPr>
        <p:spPr>
          <a:xfrm>
            <a:off x="335915" y="2912110"/>
            <a:ext cx="2613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0000FF"/>
                </a:solidFill>
              </a:rPr>
              <a:t>f6</a:t>
            </a:r>
            <a:r>
              <a:rPr lang="zh-CN" altLang="en-US" sz="2000" b="1">
                <a:solidFill>
                  <a:srgbClr val="0000FF"/>
                </a:solidFill>
              </a:rPr>
              <a:t>四边形</a:t>
            </a:r>
            <a:r>
              <a:rPr lang="zh-CN" altLang="en-US" sz="2000" b="1">
                <a:solidFill>
                  <a:srgbClr val="0000FF"/>
                </a:solidFill>
              </a:rPr>
              <a:t>占优面网格</a:t>
            </a:r>
            <a:endParaRPr lang="zh-CN" altLang="en-US" sz="2000" b="1">
              <a:solidFill>
                <a:srgbClr val="0000FF"/>
              </a:solidFill>
            </a:endParaRPr>
          </a:p>
        </p:txBody>
      </p:sp>
      <p:sp>
        <p:nvSpPr>
          <p:cNvPr id="1048608" name="文本框 15"/>
          <p:cNvSpPr txBox="1"/>
          <p:nvPr/>
        </p:nvSpPr>
        <p:spPr>
          <a:xfrm>
            <a:off x="4748530" y="3004185"/>
            <a:ext cx="2686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0000FF"/>
                </a:solidFill>
              </a:rPr>
              <a:t>f6</a:t>
            </a:r>
            <a:r>
              <a:rPr lang="zh-CN" altLang="en-US" sz="2000" b="1">
                <a:solidFill>
                  <a:srgbClr val="0000FF"/>
                </a:solidFill>
              </a:rPr>
              <a:t>六面体网格</a:t>
            </a:r>
            <a:endParaRPr lang="zh-CN" altLang="en-US" sz="2000" b="1">
              <a:solidFill>
                <a:srgbClr val="0000FF"/>
              </a:solidFill>
            </a:endParaRPr>
          </a:p>
        </p:txBody>
      </p:sp>
      <p:sp>
        <p:nvSpPr>
          <p:cNvPr id="1048609" name="文本框 17"/>
          <p:cNvSpPr txBox="1"/>
          <p:nvPr/>
        </p:nvSpPr>
        <p:spPr>
          <a:xfrm>
            <a:off x="1479550" y="4811395"/>
            <a:ext cx="18065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0000FF"/>
                </a:solidFill>
              </a:rPr>
              <a:t>过渡</a:t>
            </a:r>
            <a:r>
              <a:rPr lang="zh-CN" altLang="en-US" sz="2000" b="1">
                <a:solidFill>
                  <a:srgbClr val="0000FF"/>
                </a:solidFill>
              </a:rPr>
              <a:t>区域</a:t>
            </a:r>
            <a:endParaRPr lang="zh-CN" altLang="en-US" sz="2000" b="1">
              <a:solidFill>
                <a:srgbClr val="0000FF"/>
              </a:solidFill>
            </a:endParaRPr>
          </a:p>
        </p:txBody>
      </p:sp>
      <p:sp>
        <p:nvSpPr>
          <p:cNvPr id="1048610" name="文本框 28"/>
          <p:cNvSpPr txBox="1"/>
          <p:nvPr/>
        </p:nvSpPr>
        <p:spPr>
          <a:xfrm>
            <a:off x="140970" y="5256530"/>
            <a:ext cx="824103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关键问题：</a:t>
            </a:r>
            <a:br>
              <a:rPr lang="zh-CN" altLang="en-US" sz="2000" b="1">
                <a:solidFill>
                  <a:srgbClr val="0000FF"/>
                </a:solidFill>
              </a:rPr>
            </a:br>
            <a:r>
              <a:rPr lang="zh-CN" altLang="en-US" sz="2000" b="1">
                <a:solidFill>
                  <a:srgbClr val="FF0000"/>
                </a:solidFill>
              </a:rPr>
              <a:t>六面体体网格推出：</a:t>
            </a:r>
            <a:r>
              <a:rPr lang="zh-CN" altLang="en-US" sz="2000" b="1">
                <a:solidFill>
                  <a:srgbClr val="0000FF"/>
                </a:solidFill>
              </a:rPr>
              <a:t>对前沿法向和步长的计算，保证附面层的推出以及附面层质量的达标</a:t>
            </a:r>
            <a:endParaRPr lang="zh-CN" altLang="en-US" sz="2000" b="1">
              <a:solidFill>
                <a:srgbClr val="0000FF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0000"/>
                </a:solidFill>
              </a:rPr>
              <a:t>生成过渡单元</a:t>
            </a:r>
            <a:r>
              <a:rPr lang="en-US" altLang="zh-CN" sz="2000" b="1">
                <a:solidFill>
                  <a:srgbClr val="FF0000"/>
                </a:solidFill>
              </a:rPr>
              <a:t>:</a:t>
            </a:r>
            <a:r>
              <a:rPr lang="zh-CN" altLang="en-US" sz="2000" b="1">
                <a:solidFill>
                  <a:srgbClr val="0000FF"/>
                </a:solidFill>
              </a:rPr>
              <a:t>实现从四边形表面到三角形表面的拓扑连接</a:t>
            </a:r>
            <a:endParaRPr lang="zh-CN" altLang="en-US" sz="2000" b="1">
              <a:solidFill>
                <a:srgbClr val="0000FF"/>
              </a:solidFill>
            </a:endParaRPr>
          </a:p>
        </p:txBody>
      </p:sp>
      <p:pic>
        <p:nvPicPr>
          <p:cNvPr id="2097157" name="图片 3" descr="surfa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7745"/>
            <a:ext cx="2877185" cy="1909445"/>
          </a:xfrm>
          <a:prstGeom prst="rect">
            <a:avLst/>
          </a:prstGeom>
        </p:spPr>
      </p:pic>
      <p:pic>
        <p:nvPicPr>
          <p:cNvPr id="2097158" name="图片 4" descr="过渡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3470275"/>
            <a:ext cx="2065655" cy="1294765"/>
          </a:xfrm>
          <a:prstGeom prst="rect">
            <a:avLst/>
          </a:prstGeom>
        </p:spPr>
      </p:pic>
      <p:pic>
        <p:nvPicPr>
          <p:cNvPr id="2097159" name="图片 6" descr="过渡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9505" y="3470275"/>
            <a:ext cx="2121535" cy="1294765"/>
          </a:xfrm>
          <a:prstGeom prst="rect">
            <a:avLst/>
          </a:prstGeom>
        </p:spPr>
      </p:pic>
      <p:sp>
        <p:nvSpPr>
          <p:cNvPr id="1048611" name="文本框 8"/>
          <p:cNvSpPr txBox="1"/>
          <p:nvPr/>
        </p:nvSpPr>
        <p:spPr>
          <a:xfrm>
            <a:off x="5486400" y="4946650"/>
            <a:ext cx="27749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0000FF"/>
                </a:solidFill>
              </a:rPr>
              <a:t>远场四面体网格</a:t>
            </a:r>
            <a:endParaRPr lang="zh-CN" altLang="en-US" sz="2000" b="1">
              <a:solidFill>
                <a:srgbClr val="0000FF"/>
              </a:solidFill>
            </a:endParaRPr>
          </a:p>
        </p:txBody>
      </p:sp>
      <p:pic>
        <p:nvPicPr>
          <p:cNvPr id="2097161" name="图片 9" descr="lay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2825" y="1278890"/>
            <a:ext cx="2192655" cy="1657985"/>
          </a:xfrm>
          <a:prstGeom prst="rect">
            <a:avLst/>
          </a:prstGeom>
        </p:spPr>
      </p:pic>
      <p:pic>
        <p:nvPicPr>
          <p:cNvPr id="2097162" name="图片 10" descr="layer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6130" y="1125855"/>
            <a:ext cx="2395220" cy="1811020"/>
          </a:xfrm>
          <a:prstGeom prst="rect">
            <a:avLst/>
          </a:prstGeom>
        </p:spPr>
      </p:pic>
      <p:pic>
        <p:nvPicPr>
          <p:cNvPr id="8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1350" y="1278890"/>
            <a:ext cx="3722370" cy="520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/>
          <p:cNvSpPr/>
          <p:nvPr/>
        </p:nvSpPr>
        <p:spPr>
          <a:xfrm>
            <a:off x="4428490" y="1969770"/>
            <a:ext cx="666750" cy="405130"/>
          </a:xfrm>
          <a:prstGeom prst="rect">
            <a:avLst/>
          </a:prstGeom>
          <a:ln>
            <a:gradFill>
              <a:gsLst>
                <a:gs pos="50000">
                  <a:schemeClr val="accent4"/>
                </a:gs>
                <a:gs pos="0">
                  <a:schemeClr val="accent4">
                    <a:lumMod val="25000"/>
                    <a:lumOff val="75000"/>
                  </a:schemeClr>
                </a:gs>
                <a:gs pos="100000">
                  <a:schemeClr val="accent4">
                    <a:lumMod val="85000"/>
                  </a:schemeClr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箭头连接符 2"/>
          <p:cNvCxnSpPr/>
          <p:nvPr/>
        </p:nvCxnSpPr>
        <p:spPr>
          <a:xfrm flipV="1">
            <a:off x="5095240" y="2028190"/>
            <a:ext cx="760095" cy="144145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664970" y="4061460"/>
            <a:ext cx="666750" cy="405130"/>
          </a:xfrm>
          <a:prstGeom prst="rect">
            <a:avLst/>
          </a:prstGeom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2256155" y="4061460"/>
            <a:ext cx="760095" cy="1441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右箭头 5"/>
          <p:cNvSpPr/>
          <p:nvPr/>
        </p:nvSpPr>
        <p:spPr>
          <a:xfrm>
            <a:off x="4568825" y="3853815"/>
            <a:ext cx="979170" cy="485775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2613025" y="1996440"/>
            <a:ext cx="979170" cy="485775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ou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5480" y="3357245"/>
            <a:ext cx="2102485" cy="15894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</Words>
  <Application>WPS 演示</Application>
  <PresentationFormat/>
  <Paragraphs>38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字魂105号-简雅黑</vt:lpstr>
      <vt:lpstr>黑体</vt:lpstr>
      <vt:lpstr>等线</vt:lpstr>
      <vt:lpstr>Times New Roman</vt:lpstr>
      <vt:lpstr>Monotype Sorts</vt:lpstr>
      <vt:lpstr>Wingdings</vt:lpstr>
      <vt:lpstr>Tahoma</vt:lpstr>
      <vt:lpstr>Verdana</vt:lpstr>
      <vt:lpstr>Arial</vt:lpstr>
      <vt:lpstr>Arial Unicode MS</vt:lpstr>
      <vt:lpstr>等线 Light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自主网格生成引擎TiGER的研发进展</dc:title>
  <dc:creator>张 晓斌</dc:creator>
  <cp:lastModifiedBy>张瑞鹏</cp:lastModifiedBy>
  <cp:revision>5</cp:revision>
  <dcterms:created xsi:type="dcterms:W3CDTF">2025-12-09T11:32:00Z</dcterms:created>
  <dcterms:modified xsi:type="dcterms:W3CDTF">2025-12-09T12:00:45Z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e7c6062822a94457bd9789916edbdcb7_23</vt:lpwstr>
  </property>
  <property fmtid="{D5CDD505-2E9C-101B-9397-08002B2CF9AE}" pid="3" name="KSOProductBuildVer">
    <vt:lpwstr>2052-12.1.0.23542</vt:lpwstr>
  </property>
  <property fmtid="{D5CDD505-2E9C-101B-9397-08002B2CF9AE}" pid="4" name="_readonly">
    <vt:lpwstr/>
  </property>
  <property fmtid="{D5CDD505-2E9C-101B-9397-08002B2CF9AE}" pid="5" name="_change">
    <vt:lpwstr/>
  </property>
  <property fmtid="{D5CDD505-2E9C-101B-9397-08002B2CF9AE}" pid="6" name="_full-control">
    <vt:lpwstr/>
  </property>
  <property fmtid="{D5CDD505-2E9C-101B-9397-08002B2CF9AE}" pid="7" name="sflag">
    <vt:lpwstr>1647584124</vt:lpwstr>
  </property>
  <property fmtid="{D5CDD505-2E9C-101B-9397-08002B2CF9AE}" pid="8" name="_2015_ms_pID_725343">
    <vt:lpwstr>(3)bObkl9Zsmzdacoql94xEMNEaQSbC3CyYnnZSTcguu+Ti+3uh/qEsNzDjRmd0Df1+wqaHgQY+
nCoNWCM3c9RTYcBbNIx4B218lZbizaKMwl0xfRaGD2tZ/SpRoUuI0g5Bjo+MvMFAI8Hm22sF
T/hZ5JWcea9e+O5iwXp2UnWN0ztROnNBadEB0IFEiXfcvjKi4UWB8dee4HKf6ie+CKZRsr2h
lu/BPj2aXOErNXHLYZ</vt:lpwstr>
  </property>
  <property fmtid="{D5CDD505-2E9C-101B-9397-08002B2CF9AE}" pid="9" name="_2015_ms_pID_7253431">
    <vt:lpwstr>cJRZJOrPA+C4zHqKgcns+fO+I0KXd//i+1vlTT8GmIKeibNETkAojt
ctV94FK8SEwfxkTW7pjnjzhUoa4uDEMqFP9BE3KWNLjXXUya/o8eg4hAUbIVB4wNR7C9EI/D
9aod+G91GzbgG0PMclN+DoBxaDXPXWFxGPRtJJgggZLaY9fSrRwN86QQ14XbeFwn0EWR7m5j
80DzJNzSNAQ/kechYZGfqZXPOoMRx33xXjhS</vt:lpwstr>
  </property>
  <property fmtid="{D5CDD505-2E9C-101B-9397-08002B2CF9AE}" pid="10" name="_2015_ms_pID_7253432">
    <vt:lpwstr>6t3XypMbGWSIDA1u8alNRFw=</vt:lpwstr>
  </property>
</Properties>
</file>